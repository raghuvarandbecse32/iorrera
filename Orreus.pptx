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E56079-7888-4E92-AD40-7DBD005AC7FD}" v="12" dt="2024-10-05T07:50:04.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4785475-3D6C-4790-ACE2-561372462702}" type="datetimeFigureOut">
              <a:rPr lang="en-IN" smtClean="0"/>
              <a:t>05-10-2024</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1045167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785475-3D6C-4790-ACE2-561372462702}" type="datetimeFigureOut">
              <a:rPr lang="en-IN" smtClean="0"/>
              <a:t>05-10-2024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576382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785475-3D6C-4790-ACE2-561372462702}" type="datetimeFigureOut">
              <a:rPr lang="en-IN" smtClean="0"/>
              <a:t>05-10-2024</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2729599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785475-3D6C-4790-ACE2-561372462702}" type="datetimeFigureOut">
              <a:rPr lang="en-IN" smtClean="0"/>
              <a:t>05-10-2024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671088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785475-3D6C-4790-ACE2-561372462702}" type="datetimeFigureOut">
              <a:rPr lang="en-IN" smtClean="0"/>
              <a:t>05-10-2024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314918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785475-3D6C-4790-ACE2-561372462702}" type="datetimeFigureOut">
              <a:rPr lang="en-IN" smtClean="0"/>
              <a:t>05-10-2024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230632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785475-3D6C-4790-ACE2-561372462702}" type="datetimeFigureOut">
              <a:rPr lang="en-IN" smtClean="0"/>
              <a:t>05-10-2024</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384115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785475-3D6C-4790-ACE2-561372462702}" type="datetimeFigureOut">
              <a:rPr lang="en-IN" smtClean="0"/>
              <a:t>05-10-2024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852606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785475-3D6C-4790-ACE2-561372462702}" type="datetimeFigureOut">
              <a:rPr lang="en-IN" smtClean="0"/>
              <a:t>05-10-2024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929614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785475-3D6C-4790-ACE2-561372462702}" type="datetimeFigureOut">
              <a:rPr lang="en-IN" smtClean="0"/>
              <a:t>05-10-2024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3307988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4785475-3D6C-4790-ACE2-561372462702}" type="datetimeFigureOut">
              <a:rPr lang="en-IN" smtClean="0"/>
              <a:t>05-10-2024</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38952877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4785475-3D6C-4790-ACE2-561372462702}" type="datetimeFigureOut">
              <a:rPr lang="en-IN" smtClean="0"/>
              <a:t>05-10-2024</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3376752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785475-3D6C-4790-ACE2-561372462702}" type="datetimeFigureOut">
              <a:rPr lang="en-IN" smtClean="0"/>
              <a:t>05-10-2024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825897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4785475-3D6C-4790-ACE2-561372462702}" type="datetimeFigureOut">
              <a:rPr lang="en-IN" smtClean="0"/>
              <a:t>05-10-2024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296394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4785475-3D6C-4790-ACE2-561372462702}" type="datetimeFigureOut">
              <a:rPr lang="en-IN" smtClean="0"/>
              <a:t>05-10-2024</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3102428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4785475-3D6C-4790-ACE2-561372462702}" type="datetimeFigureOut">
              <a:rPr lang="en-IN" smtClean="0"/>
              <a:t>05-10-2024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18006058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4785475-3D6C-4790-ACE2-561372462702}" type="datetimeFigureOut">
              <a:rPr lang="en-IN" smtClean="0"/>
              <a:t>05-10-2024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E7DA192-D652-40B8-8EE3-3D2FD00749F2}" type="slidenum">
              <a:rPr lang="en-IN" smtClean="0"/>
              <a:t>‹#›</a:t>
            </a:fld>
            <a:endParaRPr lang="en-IN"/>
          </a:p>
        </p:txBody>
      </p:sp>
    </p:spTree>
    <p:extLst>
      <p:ext uri="{BB962C8B-B14F-4D97-AF65-F5344CB8AC3E}">
        <p14:creationId xmlns:p14="http://schemas.microsoft.com/office/powerpoint/2010/main" val="2792760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4785475-3D6C-4790-ACE2-561372462702}" type="datetimeFigureOut">
              <a:rPr lang="en-IN" smtClean="0"/>
              <a:t>05-10-2024</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E7DA192-D652-40B8-8EE3-3D2FD00749F2}" type="slidenum">
              <a:rPr lang="en-IN" smtClean="0"/>
              <a:t>‹#›</a:t>
            </a:fld>
            <a:endParaRPr lang="en-IN"/>
          </a:p>
        </p:txBody>
      </p:sp>
    </p:spTree>
    <p:extLst>
      <p:ext uri="{BB962C8B-B14F-4D97-AF65-F5344CB8AC3E}">
        <p14:creationId xmlns:p14="http://schemas.microsoft.com/office/powerpoint/2010/main" val="211125989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hyperlink" Target="https://blog.longnow.org/02017/04/24/orrery-interval-invitation-long-term-thinking/"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https://ant-ix.deviantart.com/art/Orrery-107739598" TargetMode="Externa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s://www.universetoday.com/tag/potentially-hazardous-asteroid/" TargetMode="Externa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s://en.wikipedia.org/wiki/File:PIA17041-Orbits-PotentiallyHazardousAsteroids-Early2013.jpg" TargetMode="Externa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3.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hyperlink" Target="https://pixabay.com/illustrations/galaxy-universe-cosmos-space-star-2258215/"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2.jpg"/><Relationship Id="rId5" Type="http://schemas.openxmlformats.org/officeDocument/2006/relationships/hyperlink" Target="https://www.flickr.com/photos/jimmiehomeschoolmom/552297573/" TargetMode="External"/><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s://www.pxfuel.com/en/free-photo-xdacj/download/1920x1080" TargetMode="Externa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hyperlink" Target="https://www.pxfuel.com/en/free-photo-xdacj/download/1920x1080" TargetMode="External"/><Relationship Id="rId3" Type="http://schemas.openxmlformats.org/officeDocument/2006/relationships/hyperlink" Target="https://codepen.io/WillemCrnlssn/pen/nabXoo" TargetMode="External"/><Relationship Id="rId7" Type="http://schemas.openxmlformats.org/officeDocument/2006/relationships/image" Target="../media/image13.jpg"/><Relationship Id="rId2" Type="http://schemas.openxmlformats.org/officeDocument/2006/relationships/hyperlink" Target="https://codepen.io/jcoulterdesign/pen/ZxXbeP?editors=1111" TargetMode="Externa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image" Target="../media/image2.png"/><Relationship Id="rId4" Type="http://schemas.openxmlformats.org/officeDocument/2006/relationships/hyperlink" Target="https://data.nasa.gov/Space-Science/Near-Earth-Comets-Orbital-Elements-API/ysqn-vd8v/about_data"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video" Target="https://www.youtube.com/embed/0sQnxAKoBWM?feature=oembed" TargetMode="External"/><Relationship Id="rId5" Type="http://schemas.openxmlformats.org/officeDocument/2006/relationships/image" Target="../media/image15.jpe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1745647" y="2364903"/>
            <a:ext cx="9644247" cy="1338027"/>
          </a:xfrm>
        </p:spPr>
        <p:txBody>
          <a:bodyPr/>
          <a:lstStyle/>
          <a:p>
            <a:r>
              <a:rPr lang="en-US" dirty="0" err="1"/>
              <a:t>Orreus</a:t>
            </a:r>
            <a:r>
              <a:rPr lang="en-US" dirty="0"/>
              <a:t>: An Interactive Orrery Web App</a:t>
            </a:r>
            <a:endParaRPr lang="en-IN" dirty="0"/>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1897626" y="3702930"/>
            <a:ext cx="8825658" cy="387807"/>
          </a:xfrm>
        </p:spPr>
        <p:txBody>
          <a:bodyPr/>
          <a:lstStyle/>
          <a:p>
            <a:r>
              <a:rPr lang="en-US" dirty="0">
                <a:solidFill>
                  <a:schemeClr val="accent3">
                    <a:lumMod val="40000"/>
                    <a:lumOff val="60000"/>
                  </a:schemeClr>
                </a:solidFill>
              </a:rPr>
              <a:t>Visualizing the Solar System and Beyond</a:t>
            </a:r>
            <a:endParaRPr lang="en-IN" dirty="0">
              <a:solidFill>
                <a:schemeClr val="accent3">
                  <a:lumMod val="40000"/>
                  <a:lumOff val="60000"/>
                </a:schemeClr>
              </a:solidFill>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2979174" cy="1088062"/>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897626" y="1750142"/>
            <a:ext cx="825909" cy="369332"/>
          </a:xfrm>
          <a:prstGeom prst="rect">
            <a:avLst/>
          </a:prstGeom>
          <a:noFill/>
        </p:spPr>
        <p:txBody>
          <a:bodyPr wrap="square" rtlCol="0">
            <a:spAutoFit/>
          </a:bodyPr>
          <a:lstStyle/>
          <a:p>
            <a:r>
              <a:rPr lang="en-IN" dirty="0">
                <a:solidFill>
                  <a:schemeClr val="bg1"/>
                </a:solidFill>
                <a:latin typeface="Bahnschrift Condensed" panose="020B0502040204020203" pitchFamily="34" charset="0"/>
              </a:rPr>
              <a:t>2024</a:t>
            </a:r>
          </a:p>
        </p:txBody>
      </p:sp>
      <p:sp>
        <p:nvSpPr>
          <p:cNvPr id="7" name="Subtitle 2">
            <a:extLst>
              <a:ext uri="{FF2B5EF4-FFF2-40B4-BE49-F238E27FC236}">
                <a16:creationId xmlns:a16="http://schemas.microsoft.com/office/drawing/2014/main" id="{1828D063-9DC5-7A13-C69E-5525F1DBB04C}"/>
              </a:ext>
            </a:extLst>
          </p:cNvPr>
          <p:cNvSpPr txBox="1">
            <a:spLocks/>
          </p:cNvSpPr>
          <p:nvPr/>
        </p:nvSpPr>
        <p:spPr>
          <a:xfrm>
            <a:off x="1886926" y="4090737"/>
            <a:ext cx="9390674" cy="2033887"/>
          </a:xfrm>
          <a:prstGeom prst="rect">
            <a:avLst/>
          </a:prstGeom>
        </p:spPr>
        <p:txBody>
          <a:bodyPr vert="horz" lIns="91440" tIns="45720" rIns="91440" bIns="45720" rtlCol="0" anchor="t">
            <a:normAutofit fontScale="92500" lnSpcReduction="10000"/>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sz="1600" dirty="0"/>
              <a:t>Team Name: </a:t>
            </a:r>
            <a:r>
              <a:rPr lang="en-US" sz="1600" dirty="0">
                <a:solidFill>
                  <a:schemeClr val="tx2">
                    <a:lumMod val="20000"/>
                    <a:lumOff val="80000"/>
                  </a:schemeClr>
                </a:solidFill>
              </a:rPr>
              <a:t>The DOMIRA: THE GUARDIANS OF AURCTIA</a:t>
            </a:r>
            <a:br>
              <a:rPr lang="en-US" sz="1600" dirty="0">
                <a:solidFill>
                  <a:schemeClr val="tx2">
                    <a:lumMod val="20000"/>
                    <a:lumOff val="80000"/>
                  </a:schemeClr>
                </a:solidFill>
              </a:rPr>
            </a:br>
            <a:br>
              <a:rPr lang="en-US" sz="1600" dirty="0">
                <a:solidFill>
                  <a:schemeClr val="tx2">
                    <a:lumMod val="20000"/>
                    <a:lumOff val="80000"/>
                  </a:schemeClr>
                </a:solidFill>
              </a:rPr>
            </a:br>
            <a:r>
              <a:rPr lang="en-US" sz="1600" dirty="0"/>
              <a:t>CHALLENGE: </a:t>
            </a:r>
            <a:r>
              <a:rPr lang="en-US" sz="1600" i="0" dirty="0">
                <a:solidFill>
                  <a:schemeClr val="tx2">
                    <a:lumMod val="20000"/>
                    <a:lumOff val="80000"/>
                  </a:schemeClr>
                </a:solidFill>
                <a:effectLst/>
                <a:latin typeface="+mj-lt"/>
              </a:rPr>
              <a:t>Create an Orrery Web App that Displays Near-Earth Objects</a:t>
            </a:r>
            <a:br>
              <a:rPr lang="en-US" sz="1600" dirty="0"/>
            </a:br>
            <a:br>
              <a:rPr lang="en-US" sz="1600" dirty="0"/>
            </a:br>
            <a:r>
              <a:rPr lang="en-US" sz="1600" dirty="0"/>
              <a:t>TEAM MEMBERS:</a:t>
            </a:r>
            <a:br>
              <a:rPr lang="en-US" sz="1600" dirty="0"/>
            </a:br>
            <a:br>
              <a:rPr lang="en-US" sz="1600" dirty="0"/>
            </a:br>
            <a:r>
              <a:rPr lang="en-US" sz="1600" dirty="0">
                <a:solidFill>
                  <a:schemeClr val="tx2">
                    <a:lumMod val="20000"/>
                    <a:lumOff val="80000"/>
                  </a:schemeClr>
                </a:solidFill>
              </a:rPr>
              <a:t>RAGHUVARAN D (TEAM LEADER)</a:t>
            </a:r>
            <a:br>
              <a:rPr lang="en-US" sz="1600" dirty="0">
                <a:solidFill>
                  <a:schemeClr val="tx2">
                    <a:lumMod val="20000"/>
                    <a:lumOff val="80000"/>
                  </a:schemeClr>
                </a:solidFill>
              </a:rPr>
            </a:br>
            <a:r>
              <a:rPr lang="en-US" sz="1600" dirty="0">
                <a:solidFill>
                  <a:schemeClr val="tx2">
                    <a:lumMod val="20000"/>
                    <a:lumOff val="80000"/>
                  </a:schemeClr>
                </a:solidFill>
              </a:rPr>
              <a:t>DOMINIC WALTER T</a:t>
            </a:r>
            <a:br>
              <a:rPr lang="en-US" sz="1600" dirty="0">
                <a:solidFill>
                  <a:schemeClr val="tx2">
                    <a:lumMod val="20000"/>
                    <a:lumOff val="80000"/>
                  </a:schemeClr>
                </a:solidFill>
              </a:rPr>
            </a:br>
            <a:r>
              <a:rPr lang="en-US" sz="1600" dirty="0">
                <a:solidFill>
                  <a:schemeClr val="tx2">
                    <a:lumMod val="20000"/>
                    <a:lumOff val="80000"/>
                  </a:schemeClr>
                </a:solidFill>
              </a:rPr>
              <a:t>SHARMILA L A</a:t>
            </a:r>
            <a:endParaRPr lang="en-IN" dirty="0">
              <a:solidFill>
                <a:schemeClr val="tx2">
                  <a:lumMod val="20000"/>
                  <a:lumOff val="80000"/>
                </a:schemeClr>
              </a:solidFill>
            </a:endParaRPr>
          </a:p>
        </p:txBody>
      </p:sp>
      <p:pic>
        <p:nvPicPr>
          <p:cNvPr id="9" name="Picture 8">
            <a:extLst>
              <a:ext uri="{FF2B5EF4-FFF2-40B4-BE49-F238E27FC236}">
                <a16:creationId xmlns:a16="http://schemas.microsoft.com/office/drawing/2014/main" id="{ED6C4E63-65DD-63F2-2A75-5206743193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spTree>
    <p:extLst>
      <p:ext uri="{BB962C8B-B14F-4D97-AF65-F5344CB8AC3E}">
        <p14:creationId xmlns:p14="http://schemas.microsoft.com/office/powerpoint/2010/main" val="611446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629265" y="2037888"/>
            <a:ext cx="9644247" cy="1338027"/>
          </a:xfrm>
        </p:spPr>
        <p:txBody>
          <a:bodyPr/>
          <a:lstStyle/>
          <a:p>
            <a:r>
              <a:rPr lang="en-IN" dirty="0"/>
              <a:t>What is an Orrery?</a:t>
            </a:r>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816080" y="3284464"/>
            <a:ext cx="5397908" cy="2477239"/>
          </a:xfrm>
        </p:spPr>
        <p:txBody>
          <a:bodyPr>
            <a:normAutofit/>
          </a:bodyPr>
          <a:lstStyle/>
          <a:p>
            <a:r>
              <a:rPr lang="en-US" dirty="0"/>
              <a:t>An orrery is a mechanical model of the solar system. The name originates from Charles Boyle, to whom a mechanical model was presented in 1713. Our goal was to modernize this concept with today’s technology</a:t>
            </a:r>
            <a:endParaRPr lang="en-IN" dirty="0">
              <a:solidFill>
                <a:schemeClr val="accent3">
                  <a:lumMod val="40000"/>
                  <a:lumOff val="60000"/>
                </a:schemeClr>
              </a:solidFill>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9" name="Picture 8">
            <a:extLst>
              <a:ext uri="{FF2B5EF4-FFF2-40B4-BE49-F238E27FC236}">
                <a16:creationId xmlns:a16="http://schemas.microsoft.com/office/drawing/2014/main" id="{DC92EB1F-94BA-92B5-0832-462F77FA4A7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176061" y="4116059"/>
            <a:ext cx="3336758" cy="208547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2" name="Picture 11">
            <a:extLst>
              <a:ext uri="{FF2B5EF4-FFF2-40B4-BE49-F238E27FC236}">
                <a16:creationId xmlns:a16="http://schemas.microsoft.com/office/drawing/2014/main" id="{FCE43E4B-F809-C183-C132-0F30B67872DD}"/>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9844440" y="1808316"/>
            <a:ext cx="1737441" cy="2157586"/>
          </a:xfrm>
          <a:prstGeom prst="rect">
            <a:avLst/>
          </a:prstGeom>
        </p:spPr>
      </p:pic>
    </p:spTree>
    <p:extLst>
      <p:ext uri="{BB962C8B-B14F-4D97-AF65-F5344CB8AC3E}">
        <p14:creationId xmlns:p14="http://schemas.microsoft.com/office/powerpoint/2010/main" val="3652788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629266" y="2037888"/>
            <a:ext cx="6061190" cy="1338027"/>
          </a:xfrm>
        </p:spPr>
        <p:txBody>
          <a:bodyPr/>
          <a:lstStyle/>
          <a:p>
            <a:r>
              <a:rPr lang="en-IN" dirty="0"/>
              <a:t>We Challenge The Subject</a:t>
            </a:r>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816080" y="3605487"/>
            <a:ext cx="5397908" cy="2477239"/>
          </a:xfrm>
        </p:spPr>
        <p:txBody>
          <a:bodyPr>
            <a:normAutofit/>
          </a:bodyPr>
          <a:lstStyle/>
          <a:p>
            <a:r>
              <a:rPr lang="en-US" dirty="0"/>
              <a:t>The solar system is vast, and with increasing interest in space exploration, it’s crucial to create interactive tools to educate the public and provide detailed information about space, especially concerning Near-Earth objects like asteroids and comets</a:t>
            </a:r>
            <a:endParaRPr lang="en-IN" dirty="0">
              <a:solidFill>
                <a:schemeClr val="accent3">
                  <a:lumMod val="40000"/>
                  <a:lumOff val="60000"/>
                </a:schemeClr>
              </a:solidFill>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8" name="Picture 7">
            <a:extLst>
              <a:ext uri="{FF2B5EF4-FFF2-40B4-BE49-F238E27FC236}">
                <a16:creationId xmlns:a16="http://schemas.microsoft.com/office/drawing/2014/main" id="{7D20A975-3B6E-0506-8E2C-2AE3175758B8}"/>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690456" y="1386930"/>
            <a:ext cx="4985263" cy="49572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83863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629265" y="1646871"/>
            <a:ext cx="8836834" cy="1338027"/>
          </a:xfrm>
        </p:spPr>
        <p:txBody>
          <a:bodyPr/>
          <a:lstStyle/>
          <a:p>
            <a:r>
              <a:rPr lang="en-IN" dirty="0"/>
              <a:t>Introducing </a:t>
            </a:r>
            <a:r>
              <a:rPr lang="en-IN" dirty="0" err="1"/>
              <a:t>Orreus</a:t>
            </a:r>
            <a:endParaRPr lang="en-IN" dirty="0"/>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816080" y="3605487"/>
            <a:ext cx="5397908" cy="2477239"/>
          </a:xfrm>
        </p:spPr>
        <p:txBody>
          <a:bodyPr>
            <a:normAutofit/>
          </a:bodyPr>
          <a:lstStyle/>
          <a:p>
            <a:r>
              <a:rPr lang="en-US" dirty="0" err="1"/>
              <a:t>Orreus</a:t>
            </a:r>
            <a:r>
              <a:rPr lang="en-US" dirty="0"/>
              <a:t> is a virtual orrery, designed to make learning about the solar system immersive. It displays celestial bodies, including planets, Near-Earth Asteroids, comets, and PHAs. The app enables users to interact with real-time data and explore missions.</a:t>
            </a:r>
            <a:endParaRPr lang="en-IN" dirty="0">
              <a:solidFill>
                <a:schemeClr val="accent3">
                  <a:lumMod val="40000"/>
                  <a:lumOff val="60000"/>
                </a:schemeClr>
              </a:solidFill>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13" name="Picture 12">
            <a:extLst>
              <a:ext uri="{FF2B5EF4-FFF2-40B4-BE49-F238E27FC236}">
                <a16:creationId xmlns:a16="http://schemas.microsoft.com/office/drawing/2014/main" id="{8B2EE997-E6DD-3DE3-E1D3-B3651FC7DAC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266214" y="2233148"/>
            <a:ext cx="4315667" cy="411103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098945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3099445" y="936620"/>
            <a:ext cx="5826964" cy="1338027"/>
          </a:xfrm>
        </p:spPr>
        <p:txBody>
          <a:bodyPr/>
          <a:lstStyle/>
          <a:p>
            <a:r>
              <a:rPr lang="en-IN" dirty="0"/>
              <a:t>Our Application</a:t>
            </a: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10" name="Picture 9">
            <a:extLst>
              <a:ext uri="{FF2B5EF4-FFF2-40B4-BE49-F238E27FC236}">
                <a16:creationId xmlns:a16="http://schemas.microsoft.com/office/drawing/2014/main" id="{4153BB16-3B8E-DBAA-863D-B21322279D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0875" y="2770957"/>
            <a:ext cx="5630346" cy="339618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4" name="TextBox 13">
            <a:extLst>
              <a:ext uri="{FF2B5EF4-FFF2-40B4-BE49-F238E27FC236}">
                <a16:creationId xmlns:a16="http://schemas.microsoft.com/office/drawing/2014/main" id="{4D13918B-A565-EB64-1762-6AF3EF28CA06}"/>
              </a:ext>
            </a:extLst>
          </p:cNvPr>
          <p:cNvSpPr txBox="1"/>
          <p:nvPr/>
        </p:nvSpPr>
        <p:spPr>
          <a:xfrm>
            <a:off x="947057" y="2563586"/>
            <a:ext cx="2024743" cy="369332"/>
          </a:xfrm>
          <a:prstGeom prst="rect">
            <a:avLst/>
          </a:prstGeom>
          <a:noFill/>
        </p:spPr>
        <p:txBody>
          <a:bodyPr wrap="square" rtlCol="0">
            <a:spAutoFit/>
          </a:bodyPr>
          <a:lstStyle/>
          <a:p>
            <a:r>
              <a:rPr lang="en-IN" dirty="0">
                <a:solidFill>
                  <a:schemeClr val="accent6">
                    <a:lumMod val="40000"/>
                    <a:lumOff val="60000"/>
                  </a:schemeClr>
                </a:solidFill>
                <a:latin typeface="+mj-lt"/>
              </a:rPr>
              <a:t>Front Page</a:t>
            </a:r>
          </a:p>
        </p:txBody>
      </p:sp>
    </p:spTree>
    <p:extLst>
      <p:ext uri="{BB962C8B-B14F-4D97-AF65-F5344CB8AC3E}">
        <p14:creationId xmlns:p14="http://schemas.microsoft.com/office/powerpoint/2010/main" val="265253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3099445" y="936620"/>
            <a:ext cx="5826964" cy="1338027"/>
          </a:xfrm>
        </p:spPr>
        <p:txBody>
          <a:bodyPr/>
          <a:lstStyle/>
          <a:p>
            <a:r>
              <a:rPr lang="en-IN" dirty="0"/>
              <a:t>Our Application</a:t>
            </a: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10" name="Picture 9">
            <a:extLst>
              <a:ext uri="{FF2B5EF4-FFF2-40B4-BE49-F238E27FC236}">
                <a16:creationId xmlns:a16="http://schemas.microsoft.com/office/drawing/2014/main" id="{4153BB16-3B8E-DBAA-863D-B21322279DB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804465" y="3104424"/>
            <a:ext cx="6583070" cy="3118295"/>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14" name="TextBox 13">
            <a:extLst>
              <a:ext uri="{FF2B5EF4-FFF2-40B4-BE49-F238E27FC236}">
                <a16:creationId xmlns:a16="http://schemas.microsoft.com/office/drawing/2014/main" id="{4D13918B-A565-EB64-1762-6AF3EF28CA06}"/>
              </a:ext>
            </a:extLst>
          </p:cNvPr>
          <p:cNvSpPr txBox="1"/>
          <p:nvPr/>
        </p:nvSpPr>
        <p:spPr>
          <a:xfrm>
            <a:off x="947057" y="2563586"/>
            <a:ext cx="2024743" cy="923330"/>
          </a:xfrm>
          <a:prstGeom prst="rect">
            <a:avLst/>
          </a:prstGeom>
          <a:noFill/>
        </p:spPr>
        <p:txBody>
          <a:bodyPr wrap="square" rtlCol="0">
            <a:spAutoFit/>
          </a:bodyPr>
          <a:lstStyle/>
          <a:p>
            <a:r>
              <a:rPr lang="en-IN" dirty="0">
                <a:solidFill>
                  <a:schemeClr val="accent6">
                    <a:lumMod val="40000"/>
                    <a:lumOff val="60000"/>
                  </a:schemeClr>
                </a:solidFill>
                <a:latin typeface="+mj-lt"/>
              </a:rPr>
              <a:t>Simulation of Orrery</a:t>
            </a:r>
          </a:p>
          <a:p>
            <a:endParaRPr lang="en-IN" dirty="0">
              <a:solidFill>
                <a:schemeClr val="accent6">
                  <a:lumMod val="40000"/>
                  <a:lumOff val="60000"/>
                </a:schemeClr>
              </a:solidFill>
              <a:latin typeface="+mj-lt"/>
            </a:endParaRPr>
          </a:p>
        </p:txBody>
      </p:sp>
    </p:spTree>
    <p:extLst>
      <p:ext uri="{BB962C8B-B14F-4D97-AF65-F5344CB8AC3E}">
        <p14:creationId xmlns:p14="http://schemas.microsoft.com/office/powerpoint/2010/main" val="708969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816080" y="2950640"/>
            <a:ext cx="4808149" cy="1338027"/>
          </a:xfrm>
        </p:spPr>
        <p:txBody>
          <a:bodyPr/>
          <a:lstStyle/>
          <a:p>
            <a:r>
              <a:rPr lang="en-US" dirty="0"/>
              <a:t>How Users Interact with </a:t>
            </a:r>
            <a:r>
              <a:rPr lang="en-US" dirty="0" err="1"/>
              <a:t>Orreus</a:t>
            </a:r>
            <a:r>
              <a:rPr lang="en-US" dirty="0"/>
              <a:t>?</a:t>
            </a:r>
            <a:endParaRPr lang="en-IN" dirty="0"/>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816080" y="4380761"/>
            <a:ext cx="5397908" cy="2477239"/>
          </a:xfrm>
        </p:spPr>
        <p:txBody>
          <a:bodyPr>
            <a:normAutofit/>
          </a:bodyPr>
          <a:lstStyle/>
          <a:p>
            <a:r>
              <a:rPr lang="en-US" dirty="0" err="1"/>
              <a:t>Orreus</a:t>
            </a:r>
            <a:r>
              <a:rPr lang="en-US" dirty="0"/>
              <a:t> is a virtual orrery, designed to make learning about the solar system immersive. It displays celestial bodies, including planets, Near-Earth Asteroids, comets, and PHAs. The app enables users to interact with real-time data and explore missions.</a:t>
            </a:r>
            <a:endParaRPr lang="en-IN" dirty="0">
              <a:solidFill>
                <a:schemeClr val="accent3">
                  <a:lumMod val="40000"/>
                  <a:lumOff val="60000"/>
                </a:schemeClr>
              </a:solidFill>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4">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7" name="Screen Recording 2024-10-05 000147">
            <a:hlinkClick r:id="" action="ppaction://media"/>
            <a:extLst>
              <a:ext uri="{FF2B5EF4-FFF2-40B4-BE49-F238E27FC236}">
                <a16:creationId xmlns:a16="http://schemas.microsoft.com/office/drawing/2014/main" id="{CD88F799-D081-2A9C-8E95-096D9B574624}"/>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213988" y="1484864"/>
            <a:ext cx="5269570" cy="366274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759665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58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816080" y="2950640"/>
            <a:ext cx="4808149" cy="1338027"/>
          </a:xfrm>
        </p:spPr>
        <p:txBody>
          <a:bodyPr/>
          <a:lstStyle/>
          <a:p>
            <a:r>
              <a:rPr lang="en-US" dirty="0" err="1"/>
              <a:t>Orreus</a:t>
            </a:r>
            <a:r>
              <a:rPr lang="en-US" dirty="0"/>
              <a:t> as an Educational Tool</a:t>
            </a:r>
            <a:endParaRPr lang="en-IN" dirty="0"/>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816080" y="4380761"/>
            <a:ext cx="5397908" cy="2477239"/>
          </a:xfrm>
        </p:spPr>
        <p:txBody>
          <a:bodyPr>
            <a:normAutofit/>
          </a:bodyPr>
          <a:lstStyle/>
          <a:p>
            <a:r>
              <a:rPr lang="en-US" dirty="0" err="1"/>
              <a:t>Orreus</a:t>
            </a:r>
            <a:r>
              <a:rPr lang="en-US" dirty="0"/>
              <a:t> is more than just a tool for exploration—it’s a powerful educational platform that can be used in classrooms and museums to teach students about the solar system and space science.</a:t>
            </a:r>
            <a:endParaRPr lang="en-IN" dirty="0">
              <a:solidFill>
                <a:schemeClr val="accent3">
                  <a:lumMod val="40000"/>
                  <a:lumOff val="60000"/>
                </a:schemeClr>
              </a:solidFill>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9" name="Picture 8">
            <a:extLst>
              <a:ext uri="{FF2B5EF4-FFF2-40B4-BE49-F238E27FC236}">
                <a16:creationId xmlns:a16="http://schemas.microsoft.com/office/drawing/2014/main" id="{53DE7165-4345-FBC0-B1A8-C000B8A7116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754436" y="1451745"/>
            <a:ext cx="4808149" cy="2286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0A5A467B-25A9-6CA0-4280-4BD1CA071FF6}"/>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a:stretch/>
        </p:blipFill>
        <p:spPr>
          <a:xfrm>
            <a:off x="6754436" y="3830305"/>
            <a:ext cx="4808149" cy="2285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71001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816080" y="1951412"/>
            <a:ext cx="4808149" cy="1338027"/>
          </a:xfrm>
        </p:spPr>
        <p:txBody>
          <a:bodyPr/>
          <a:lstStyle/>
          <a:p>
            <a:r>
              <a:rPr lang="en-IN" dirty="0"/>
              <a:t>Looking Forward</a:t>
            </a:r>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816080" y="3289439"/>
            <a:ext cx="5397908" cy="2477239"/>
          </a:xfrm>
        </p:spPr>
        <p:txBody>
          <a:bodyPr>
            <a:normAutofit/>
          </a:bodyPr>
          <a:lstStyle/>
          <a:p>
            <a:r>
              <a:rPr lang="en-US" dirty="0"/>
              <a:t>Looking ahead, we have plans to enhance </a:t>
            </a:r>
            <a:r>
              <a:rPr lang="en-US" dirty="0" err="1"/>
              <a:t>Orreus</a:t>
            </a:r>
            <a:r>
              <a:rPr lang="en-US" dirty="0"/>
              <a:t> further by integrating VR experiences, allowing users to participate in asteroid mining missions and explore exoplanetary systems.</a:t>
            </a:r>
            <a:endParaRPr lang="en-IN" dirty="0">
              <a:solidFill>
                <a:schemeClr val="accent3">
                  <a:lumMod val="40000"/>
                  <a:lumOff val="60000"/>
                </a:schemeClr>
              </a:solidFill>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12" name="Picture 11">
            <a:extLst>
              <a:ext uri="{FF2B5EF4-FFF2-40B4-BE49-F238E27FC236}">
                <a16:creationId xmlns:a16="http://schemas.microsoft.com/office/drawing/2014/main" id="{0A5A467B-25A9-6CA0-4280-4BD1CA071FF6}"/>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440658" y="1451745"/>
            <a:ext cx="5141223" cy="37733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91589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816080" y="1951412"/>
            <a:ext cx="4808149" cy="1338027"/>
          </a:xfrm>
        </p:spPr>
        <p:txBody>
          <a:bodyPr/>
          <a:lstStyle/>
          <a:p>
            <a:r>
              <a:rPr lang="en-IN" dirty="0"/>
              <a:t>Try </a:t>
            </a:r>
            <a:r>
              <a:rPr lang="en-IN" dirty="0" err="1"/>
              <a:t>Orreus</a:t>
            </a:r>
            <a:r>
              <a:rPr lang="en-IN" dirty="0"/>
              <a:t> Today</a:t>
            </a:r>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816080" y="3289439"/>
            <a:ext cx="5397908" cy="2477239"/>
          </a:xfrm>
        </p:spPr>
        <p:txBody>
          <a:bodyPr>
            <a:normAutofit/>
          </a:bodyPr>
          <a:lstStyle/>
          <a:p>
            <a:r>
              <a:rPr lang="en-US" dirty="0"/>
              <a:t>We invite you to explore </a:t>
            </a:r>
            <a:r>
              <a:rPr lang="en-US" dirty="0" err="1"/>
              <a:t>Orreus</a:t>
            </a:r>
            <a:r>
              <a:rPr lang="en-US" dirty="0"/>
              <a:t> today! Whether you’re a space enthusiast or an educator, our platform offers something exciting for everyone. Thank you for your time, and we’re happy to answer any questions.</a:t>
            </a:r>
            <a:endParaRPr lang="en-IN" dirty="0">
              <a:solidFill>
                <a:schemeClr val="accent3">
                  <a:lumMod val="40000"/>
                  <a:lumOff val="60000"/>
                </a:schemeClr>
              </a:solidFill>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12" name="Picture 11">
            <a:extLst>
              <a:ext uri="{FF2B5EF4-FFF2-40B4-BE49-F238E27FC236}">
                <a16:creationId xmlns:a16="http://schemas.microsoft.com/office/drawing/2014/main" id="{0A5A467B-25A9-6CA0-4280-4BD1CA071FF6}"/>
              </a:ext>
            </a:extLst>
          </p:cNvPr>
          <p:cNvPicPr>
            <a:picLocks noChangeAspect="1"/>
          </p:cNvPicPr>
          <p:nvPr/>
        </p:nvPicPr>
        <p:blipFill>
          <a:blip r:embed="rId4">
            <a:extLst>
              <a:ext uri="{28A0092B-C50C-407E-A947-70E740481C1C}">
                <a14:useLocalDpi xmlns:a14="http://schemas.microsoft.com/office/drawing/2010/main" val="0"/>
              </a:ext>
            </a:extLst>
          </a:blip>
          <a:srcRect l="16958" r="16958"/>
          <a:stretch/>
        </p:blipFill>
        <p:spPr>
          <a:xfrm>
            <a:off x="6440658" y="1451745"/>
            <a:ext cx="5141223" cy="37733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687692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816080" y="1951412"/>
            <a:ext cx="4808149" cy="1338027"/>
          </a:xfrm>
        </p:spPr>
        <p:txBody>
          <a:bodyPr/>
          <a:lstStyle/>
          <a:p>
            <a:r>
              <a:rPr lang="en-IN" dirty="0"/>
              <a:t>Reference</a:t>
            </a:r>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816080" y="3289439"/>
            <a:ext cx="5397908" cy="2477239"/>
          </a:xfrm>
        </p:spPr>
        <p:txBody>
          <a:bodyPr>
            <a:normAutofit fontScale="47500" lnSpcReduction="20000"/>
          </a:bodyPr>
          <a:lstStyle/>
          <a:p>
            <a:r>
              <a:rPr lang="en-US" dirty="0"/>
              <a:t>Models:</a:t>
            </a:r>
            <a:br>
              <a:rPr lang="en-US" dirty="0"/>
            </a:br>
            <a:br>
              <a:rPr lang="en-US" dirty="0"/>
            </a:br>
            <a:r>
              <a:rPr lang="en-US" dirty="0">
                <a:hlinkClick r:id="rId2"/>
              </a:rPr>
              <a:t>https://codepen.io/jcoulterdesign/pen/ZxXbeP?editors=1111</a:t>
            </a:r>
            <a:endParaRPr lang="en-US" dirty="0"/>
          </a:p>
          <a:p>
            <a:br>
              <a:rPr lang="en-US" dirty="0"/>
            </a:br>
            <a:r>
              <a:rPr lang="en-US" dirty="0">
                <a:hlinkClick r:id="rId3"/>
              </a:rPr>
              <a:t>https://codepen.io/WillemCrnlssn/pen/nabXoo</a:t>
            </a:r>
            <a:br>
              <a:rPr lang="en-US" dirty="0"/>
            </a:br>
            <a:endParaRPr lang="en-US" dirty="0"/>
          </a:p>
          <a:p>
            <a:r>
              <a:rPr lang="en-US" dirty="0">
                <a:hlinkClick r:id="rId4"/>
              </a:rPr>
              <a:t>https://data.nasa.gov/Space-Science/Near-Earth-Comets-Orbital-Elements-API/ysqn-vd8v/about_data</a:t>
            </a:r>
            <a:br>
              <a:rPr lang="en-US" dirty="0"/>
            </a:br>
            <a:br>
              <a:rPr lang="en-US" dirty="0"/>
            </a:br>
            <a:r>
              <a:rPr lang="en-US" dirty="0"/>
              <a:t>Theory:</a:t>
            </a:r>
            <a:br>
              <a:rPr lang="en-US" dirty="0"/>
            </a:br>
            <a:endParaRPr lang="en-US" dirty="0"/>
          </a:p>
          <a:p>
            <a:r>
              <a:rPr lang="en-US" dirty="0"/>
              <a:t>Resources of our challenge</a:t>
            </a:r>
            <a:br>
              <a:rPr lang="en-US" dirty="0"/>
            </a:br>
            <a:br>
              <a:rPr lang="en-US" dirty="0"/>
            </a:br>
            <a:r>
              <a:rPr lang="en-US" dirty="0"/>
              <a:t>https://www.spaceappschallenge.org/nasa-space-apps-2024/challenges/create-an-orrery-web-app-that-displays-near-earth-objects/?tab=resources</a:t>
            </a:r>
            <a:br>
              <a:rPr lang="en-US" dirty="0"/>
            </a:br>
            <a:br>
              <a:rPr lang="en-US" dirty="0"/>
            </a:br>
            <a:endParaRPr lang="en-IN" dirty="0">
              <a:solidFill>
                <a:schemeClr val="accent3">
                  <a:lumMod val="40000"/>
                  <a:lumOff val="60000"/>
                </a:schemeClr>
              </a:solidFill>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5">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12" name="Picture 11">
            <a:extLst>
              <a:ext uri="{FF2B5EF4-FFF2-40B4-BE49-F238E27FC236}">
                <a16:creationId xmlns:a16="http://schemas.microsoft.com/office/drawing/2014/main" id="{0A5A467B-25A9-6CA0-4280-4BD1CA071FF6}"/>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440658" y="1451745"/>
            <a:ext cx="5141223" cy="37733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373061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707923" y="1750142"/>
            <a:ext cx="4601496" cy="1474481"/>
          </a:xfrm>
        </p:spPr>
        <p:txBody>
          <a:bodyPr/>
          <a:lstStyle/>
          <a:p>
            <a:r>
              <a:rPr lang="en-IN" sz="4000" dirty="0"/>
              <a:t>Project Codes and Videos</a:t>
            </a:r>
          </a:p>
        </p:txBody>
      </p:sp>
      <p:sp>
        <p:nvSpPr>
          <p:cNvPr id="3" name="Subtitle 2">
            <a:extLst>
              <a:ext uri="{FF2B5EF4-FFF2-40B4-BE49-F238E27FC236}">
                <a16:creationId xmlns:a16="http://schemas.microsoft.com/office/drawing/2014/main" id="{0A7D4C53-6E0A-429B-BD9A-3CB816F348EE}"/>
              </a:ext>
            </a:extLst>
          </p:cNvPr>
          <p:cNvSpPr>
            <a:spLocks noGrp="1"/>
          </p:cNvSpPr>
          <p:nvPr>
            <p:ph type="subTitle" idx="1"/>
          </p:nvPr>
        </p:nvSpPr>
        <p:spPr>
          <a:xfrm>
            <a:off x="707923" y="3498152"/>
            <a:ext cx="5397908" cy="2477239"/>
          </a:xfrm>
        </p:spPr>
        <p:txBody>
          <a:bodyPr>
            <a:normAutofit fontScale="77500" lnSpcReduction="20000"/>
          </a:bodyPr>
          <a:lstStyle/>
          <a:p>
            <a:r>
              <a:rPr lang="en-US" b="0" i="0" dirty="0">
                <a:solidFill>
                  <a:schemeClr val="bg1"/>
                </a:solidFill>
                <a:effectLst/>
                <a:latin typeface="+mj-lt"/>
              </a:rPr>
              <a:t>Nasa Space App Challenge 2024 Project Link:</a:t>
            </a:r>
            <a:br>
              <a:rPr lang="en-US" b="0" i="0" dirty="0">
                <a:solidFill>
                  <a:schemeClr val="bg1"/>
                </a:solidFill>
                <a:effectLst/>
                <a:latin typeface="+mj-lt"/>
              </a:rPr>
            </a:br>
            <a:br>
              <a:rPr lang="en-US" b="0" i="0" dirty="0">
                <a:solidFill>
                  <a:schemeClr val="bg1"/>
                </a:solidFill>
                <a:effectLst/>
                <a:latin typeface="+mj-lt"/>
              </a:rPr>
            </a:br>
            <a:r>
              <a:rPr lang="en-US" b="0" i="0" dirty="0">
                <a:solidFill>
                  <a:schemeClr val="bg1"/>
                </a:solidFill>
                <a:effectLst/>
                <a:latin typeface="+mj-lt"/>
              </a:rPr>
              <a:t> https://github.com/RaghuvaranDBECse32/Orreus </a:t>
            </a:r>
            <a:br>
              <a:rPr lang="en-US" b="0" i="0" dirty="0">
                <a:solidFill>
                  <a:schemeClr val="bg1"/>
                </a:solidFill>
                <a:effectLst/>
                <a:latin typeface="+mj-lt"/>
              </a:rPr>
            </a:br>
            <a:endParaRPr lang="en-US" b="0" i="0" dirty="0">
              <a:solidFill>
                <a:schemeClr val="bg1"/>
              </a:solidFill>
              <a:effectLst/>
              <a:latin typeface="+mj-lt"/>
            </a:endParaRPr>
          </a:p>
          <a:p>
            <a:r>
              <a:rPr lang="en-US" b="0" i="0" dirty="0">
                <a:solidFill>
                  <a:schemeClr val="bg1"/>
                </a:solidFill>
                <a:effectLst/>
                <a:latin typeface="+mj-lt"/>
              </a:rPr>
              <a:t>PPT Link: </a:t>
            </a:r>
            <a:br>
              <a:rPr lang="en-US" b="0" i="0" dirty="0">
                <a:solidFill>
                  <a:schemeClr val="bg1"/>
                </a:solidFill>
                <a:effectLst/>
                <a:latin typeface="+mj-lt"/>
              </a:rPr>
            </a:br>
            <a:br>
              <a:rPr lang="en-US" b="0" i="0" dirty="0">
                <a:solidFill>
                  <a:schemeClr val="bg1"/>
                </a:solidFill>
                <a:effectLst/>
                <a:latin typeface="+mj-lt"/>
              </a:rPr>
            </a:br>
            <a:r>
              <a:rPr lang="en-US" b="0" i="0" dirty="0">
                <a:solidFill>
                  <a:schemeClr val="bg1"/>
                </a:solidFill>
                <a:effectLst/>
                <a:latin typeface="+mj-lt"/>
              </a:rPr>
              <a:t>https://onedrive.live.com/edit?id=1375A2F2B81AEE6F!sb9a3fb9a258344a6b13a49e1abbc5759&amp;resid=1375A2F2B81AEE6F!sb9a3fb9a258344a6b13a49e1abbc5759&amp;cid=1375a2f2b81aee6f&amp;ithint=file%2cpptx&amp;redeem=aHR0cHM6Ly8xZHJ2Lm1zL3AvYy8xMzc1YTJmMmI4MWFlZTZmL0VacjdvN21ESmFaRXNUcEo0YXU4VjFrQm5ZUjFSM0R3S2wyeUQ5T3M3NWF3M1E_ZT1taEdnWHM&amp;migratedtospo=true&amp;wdo=2</a:t>
            </a:r>
            <a:endParaRPr lang="en-IN" dirty="0">
              <a:solidFill>
                <a:schemeClr val="bg1"/>
              </a:solidFill>
              <a:latin typeface="+mj-lt"/>
            </a:endParaRP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3">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pic>
        <p:nvPicPr>
          <p:cNvPr id="7" name="Online Media 6" title="Orrery Web App Challenge for Nasa Space App Challenge 2024">
            <a:hlinkClick r:id="" action="ppaction://media"/>
            <a:extLst>
              <a:ext uri="{FF2B5EF4-FFF2-40B4-BE49-F238E27FC236}">
                <a16:creationId xmlns:a16="http://schemas.microsoft.com/office/drawing/2014/main" id="{763774E8-1E23-9628-6F53-8E1657916F6B}"/>
              </a:ext>
            </a:extLst>
          </p:cNvPr>
          <p:cNvPicPr>
            <a:picLocks noRot="1" noChangeAspect="1"/>
          </p:cNvPicPr>
          <p:nvPr>
            <a:videoFile r:link="rId1"/>
          </p:nvPr>
        </p:nvPicPr>
        <p:blipFill>
          <a:blip r:embed="rId5"/>
          <a:stretch>
            <a:fillRect/>
          </a:stretch>
        </p:blipFill>
        <p:spPr>
          <a:xfrm>
            <a:off x="6813755" y="2620425"/>
            <a:ext cx="3930519" cy="221900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27444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4B96-4B78-BC62-0E63-070333AFFF24}"/>
              </a:ext>
            </a:extLst>
          </p:cNvPr>
          <p:cNvSpPr>
            <a:spLocks noGrp="1"/>
          </p:cNvSpPr>
          <p:nvPr>
            <p:ph type="ctrTitle"/>
          </p:nvPr>
        </p:nvSpPr>
        <p:spPr>
          <a:xfrm>
            <a:off x="4098123" y="2441269"/>
            <a:ext cx="4808149" cy="1338027"/>
          </a:xfrm>
        </p:spPr>
        <p:txBody>
          <a:bodyPr/>
          <a:lstStyle/>
          <a:p>
            <a:r>
              <a:rPr lang="en-IN" dirty="0"/>
              <a:t>Thank You</a:t>
            </a:r>
          </a:p>
        </p:txBody>
      </p:sp>
      <p:pic>
        <p:nvPicPr>
          <p:cNvPr id="5" name="Picture 4">
            <a:extLst>
              <a:ext uri="{FF2B5EF4-FFF2-40B4-BE49-F238E27FC236}">
                <a16:creationId xmlns:a16="http://schemas.microsoft.com/office/drawing/2014/main" id="{792342F0-A3F4-B73B-0165-39B4D2772F28}"/>
              </a:ext>
            </a:extLst>
          </p:cNvPr>
          <p:cNvPicPr>
            <a:picLocks noChangeAspect="1"/>
          </p:cNvPicPr>
          <p:nvPr/>
        </p:nvPicPr>
        <p:blipFill>
          <a:blip r:embed="rId2">
            <a:extLst>
              <a:ext uri="{28A0092B-C50C-407E-A947-70E740481C1C}">
                <a14:useLocalDpi xmlns:a14="http://schemas.microsoft.com/office/drawing/2010/main" val="0"/>
              </a:ext>
            </a:extLst>
          </a:blip>
          <a:srcRect r="5396"/>
          <a:stretch/>
        </p:blipFill>
        <p:spPr>
          <a:xfrm>
            <a:off x="629265" y="733375"/>
            <a:ext cx="1789470" cy="653555"/>
          </a:xfrm>
          <a:prstGeom prst="rect">
            <a:avLst/>
          </a:prstGeom>
        </p:spPr>
      </p:pic>
      <p:sp>
        <p:nvSpPr>
          <p:cNvPr id="6" name="TextBox 5">
            <a:extLst>
              <a:ext uri="{FF2B5EF4-FFF2-40B4-BE49-F238E27FC236}">
                <a16:creationId xmlns:a16="http://schemas.microsoft.com/office/drawing/2014/main" id="{869FE65E-509C-4C7F-9825-92B99E9F014B}"/>
              </a:ext>
            </a:extLst>
          </p:cNvPr>
          <p:cNvSpPr txBox="1"/>
          <p:nvPr/>
        </p:nvSpPr>
        <p:spPr>
          <a:xfrm>
            <a:off x="1337189" y="1297857"/>
            <a:ext cx="560437" cy="307777"/>
          </a:xfrm>
          <a:prstGeom prst="rect">
            <a:avLst/>
          </a:prstGeom>
          <a:noFill/>
        </p:spPr>
        <p:txBody>
          <a:bodyPr wrap="square" rtlCol="0">
            <a:spAutoFit/>
          </a:bodyPr>
          <a:lstStyle/>
          <a:p>
            <a:r>
              <a:rPr lang="en-IN" sz="1400" dirty="0">
                <a:solidFill>
                  <a:schemeClr val="bg1"/>
                </a:solidFill>
                <a:latin typeface="Bahnschrift Condensed" panose="020B0502040204020203" pitchFamily="34" charset="0"/>
              </a:rPr>
              <a:t>2024</a:t>
            </a:r>
          </a:p>
        </p:txBody>
      </p:sp>
      <p:pic>
        <p:nvPicPr>
          <p:cNvPr id="4" name="Picture 3">
            <a:extLst>
              <a:ext uri="{FF2B5EF4-FFF2-40B4-BE49-F238E27FC236}">
                <a16:creationId xmlns:a16="http://schemas.microsoft.com/office/drawing/2014/main" id="{C8DFFA72-5099-D849-1E6F-BC853A258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999" y="513814"/>
            <a:ext cx="1370882" cy="1370882"/>
          </a:xfrm>
          <a:prstGeom prst="rect">
            <a:avLst/>
          </a:prstGeom>
        </p:spPr>
      </p:pic>
    </p:spTree>
    <p:extLst>
      <p:ext uri="{BB962C8B-B14F-4D97-AF65-F5344CB8AC3E}">
        <p14:creationId xmlns:p14="http://schemas.microsoft.com/office/powerpoint/2010/main" val="920596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79</TotalTime>
  <Words>531</Words>
  <Application>Microsoft Office PowerPoint</Application>
  <PresentationFormat>Widescreen</PresentationFormat>
  <Paragraphs>43</Paragraphs>
  <Slides>13</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Bahnschrift Condensed</vt:lpstr>
      <vt:lpstr>Century Gothic</vt:lpstr>
      <vt:lpstr>Wingdings 3</vt:lpstr>
      <vt:lpstr>Ion Boardroom</vt:lpstr>
      <vt:lpstr>Orreus: An Interactive Orrery Web App</vt:lpstr>
      <vt:lpstr>What is an Orrery?</vt:lpstr>
      <vt:lpstr>We Challenge The Subject</vt:lpstr>
      <vt:lpstr>Introducing Orreus</vt:lpstr>
      <vt:lpstr>Our Application</vt:lpstr>
      <vt:lpstr>Our Application</vt:lpstr>
      <vt:lpstr>How Users Interact with Orreus?</vt:lpstr>
      <vt:lpstr>Orreus as an Educational Tool</vt:lpstr>
      <vt:lpstr>Looking Forward</vt:lpstr>
      <vt:lpstr>Try Orreus Today</vt:lpstr>
      <vt:lpstr>Reference</vt:lpstr>
      <vt:lpstr>Project Codes and Videos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Raghuvaran Damodaran</dc:creator>
  <cp:lastModifiedBy>Raghuvaran Damodaran</cp:lastModifiedBy>
  <cp:revision>2</cp:revision>
  <dcterms:created xsi:type="dcterms:W3CDTF">2024-10-05T05:48:31Z</dcterms:created>
  <dcterms:modified xsi:type="dcterms:W3CDTF">2024-10-05T11:47:03Z</dcterms:modified>
</cp:coreProperties>
</file>